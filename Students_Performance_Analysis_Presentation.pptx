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6" r:id="rId2"/>
    <p:sldId id="265" r:id="rId3"/>
    <p:sldId id="264" r:id="rId4"/>
    <p:sldId id="257" r:id="rId5"/>
    <p:sldId id="258" r:id="rId6"/>
    <p:sldId id="259" r:id="rId7"/>
    <p:sldId id="260" r:id="rId8"/>
    <p:sldId id="267" r:id="rId9"/>
    <p:sldId id="268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1465"/>
    <a:srgbClr val="82302E"/>
    <a:srgbClr val="EDE793"/>
    <a:srgbClr val="F7EDF6"/>
    <a:srgbClr val="E96D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dPt>
            <c:idx val="0"/>
            <c:bubble3D val="0"/>
            <c:spPr>
              <a:solidFill>
                <a:srgbClr val="008C95"/>
              </a:solidFill>
            </c:spPr>
            <c:extLst>
              <c:ext xmlns:c16="http://schemas.microsoft.com/office/drawing/2014/chart" uri="{C3380CC4-5D6E-409C-BE32-E72D297353CC}">
                <c16:uniqueId val="{00000001-3359-4D4B-9C02-AEDB9D664DB9}"/>
              </c:ext>
            </c:extLst>
          </c:dPt>
          <c:dPt>
            <c:idx val="1"/>
            <c:bubble3D val="0"/>
            <c:spPr>
              <a:solidFill>
                <a:srgbClr val="D9A441"/>
              </a:solidFill>
            </c:spPr>
            <c:extLst>
              <c:ext xmlns:c16="http://schemas.microsoft.com/office/drawing/2014/chart" uri="{C3380CC4-5D6E-409C-BE32-E72D297353CC}">
                <c16:uniqueId val="{00000003-3359-4D4B-9C02-AEDB9D664D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513</c:v>
                </c:pt>
                <c:pt idx="1">
                  <c:v>473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59-4D4B-9C02-AEDB9D664DB9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24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3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62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7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25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0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7612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03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1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76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87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24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73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22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84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8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821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95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5088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214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22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89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44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358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495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5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3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  <p:sldLayoutId id="2147483858" r:id="rId18"/>
    <p:sldLayoutId id="2147483859" r:id="rId19"/>
    <p:sldLayoutId id="2147483860" r:id="rId20"/>
    <p:sldLayoutId id="2147483861" r:id="rId21"/>
    <p:sldLayoutId id="2147483862" r:id="rId22"/>
    <p:sldLayoutId id="2147483863" r:id="rId23"/>
    <p:sldLayoutId id="2147483864" r:id="rId24"/>
    <p:sldLayoutId id="2147483865" r:id="rId25"/>
    <p:sldLayoutId id="2147483866" r:id="rId26"/>
    <p:sldLayoutId id="214748386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22960" y="1097280"/>
            <a:ext cx="68580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F7EDF6"/>
                </a:solidFill>
                <a:latin typeface="Aptos"/>
              </a:rPr>
              <a:t>STUDENT DATA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176" y="1691640"/>
            <a:ext cx="7589520" cy="61555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 dirty="0">
                <a:solidFill>
                  <a:srgbClr val="FFFFFF"/>
                </a:solidFill>
                <a:latin typeface="Aptos"/>
              </a:rPr>
              <a:t>Students Performance</a:t>
            </a:r>
            <a:r>
              <a:rPr lang="en-US" sz="3400" b="1" dirty="0">
                <a:solidFill>
                  <a:srgbClr val="FFFFFF"/>
                </a:solidFill>
                <a:latin typeface="Aptos"/>
              </a:rPr>
              <a:t>   </a:t>
            </a:r>
            <a:r>
              <a:rPr sz="3400" b="1" i="0" dirty="0">
                <a:solidFill>
                  <a:srgbClr val="FFFFFF"/>
                </a:solidFill>
                <a:latin typeface="Aptos"/>
              </a:rP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7772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DCE7F2"/>
                </a:solidFill>
                <a:latin typeface="Aptos"/>
              </a:rPr>
              <a:t>Exploratory Data Analysis &amp; Academic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50292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b="0" i="0" dirty="0">
                <a:solidFill>
                  <a:srgbClr val="FFFFFF"/>
                </a:solidFill>
                <a:latin typeface="Aptos"/>
              </a:rPr>
              <a:t>Honey  Stanly</a:t>
            </a:r>
            <a:endParaRPr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86868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CDDAE7"/>
                </a:solidFill>
                <a:latin typeface="Aptos"/>
              </a:rPr>
              <a:t>Dataset: 1,000 original records  •  986 records after cleaning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6409C-B96C-6EE7-5F27-22FAE2171612}"/>
              </a:ext>
            </a:extLst>
          </p:cNvPr>
          <p:cNvSpPr txBox="1"/>
          <p:nvPr/>
        </p:nvSpPr>
        <p:spPr>
          <a:xfrm>
            <a:off x="3413760" y="1097280"/>
            <a:ext cx="2682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2025 - 2026</a:t>
            </a:r>
            <a:endParaRPr lang="en-IN" sz="20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8" name="Picture 7" descr="Teacher pointing at laptop screen to young students">
            <a:extLst>
              <a:ext uri="{FF2B5EF4-FFF2-40B4-BE49-F238E27FC236}">
                <a16:creationId xmlns:a16="http://schemas.microsoft.com/office/drawing/2014/main" id="{E6DCE02F-675B-FE6A-D177-4A9CBEDCB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983" y="238884"/>
            <a:ext cx="4734113" cy="4093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6C8DAF-8A0E-CE1F-0EC7-1829579F98F5}"/>
              </a:ext>
            </a:extLst>
          </p:cNvPr>
          <p:cNvSpPr/>
          <p:nvPr/>
        </p:nvSpPr>
        <p:spPr>
          <a:xfrm>
            <a:off x="731520" y="604911"/>
            <a:ext cx="10325686" cy="544419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1D6DA-D027-3560-D986-F5B2068FC58F}"/>
              </a:ext>
            </a:extLst>
          </p:cNvPr>
          <p:cNvSpPr txBox="1"/>
          <p:nvPr/>
        </p:nvSpPr>
        <p:spPr>
          <a:xfrm>
            <a:off x="1702191" y="1239743"/>
            <a:ext cx="2672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82302E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036ED-58FB-142A-C08C-F1609344BF60}"/>
              </a:ext>
            </a:extLst>
          </p:cNvPr>
          <p:cNvSpPr txBox="1"/>
          <p:nvPr/>
        </p:nvSpPr>
        <p:spPr>
          <a:xfrm>
            <a:off x="1134794" y="1856935"/>
            <a:ext cx="94159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>
                <a:solidFill>
                  <a:srgbClr val="002060"/>
                </a:solidFill>
              </a:rPr>
              <a:t>1.This project </a:t>
            </a:r>
            <a:r>
              <a:rPr lang="en-IN" sz="2000" b="1" dirty="0" err="1">
                <a:solidFill>
                  <a:srgbClr val="002060"/>
                </a:solidFill>
              </a:rPr>
              <a:t>analyzes</a:t>
            </a:r>
            <a:r>
              <a:rPr lang="en-IN" sz="2000" b="1" dirty="0">
                <a:solidFill>
                  <a:srgbClr val="002060"/>
                </a:solidFill>
              </a:rPr>
              <a:t> the Students Performance Dataset, containing 1,000 student records across demographic, socioeconomic, and academic attributes.</a:t>
            </a:r>
          </a:p>
          <a:p>
            <a:pPr lvl="0"/>
            <a:r>
              <a:rPr lang="en-IN" sz="2000" b="1" dirty="0">
                <a:solidFill>
                  <a:srgbClr val="002060"/>
                </a:solidFill>
              </a:rPr>
              <a:t>The objective is to identify patterns and factors associated with student achievement in mathematics, reading, and writing.</a:t>
            </a:r>
          </a:p>
          <a:p>
            <a:pPr lvl="0"/>
            <a:r>
              <a:rPr lang="en-IN" sz="2000" b="1" dirty="0">
                <a:solidFill>
                  <a:srgbClr val="002060"/>
                </a:solidFill>
              </a:rPr>
              <a:t>2.Data cleaning, exploratory data analysis (EDA), descriptive statistics, and group-based analysis are performed using Python, Pandas, and NumPy.</a:t>
            </a:r>
          </a:p>
          <a:p>
            <a:pPr lvl="0"/>
            <a:r>
              <a:rPr lang="en-IN" sz="2000" b="1" dirty="0">
                <a:solidFill>
                  <a:srgbClr val="002060"/>
                </a:solidFill>
              </a:rPr>
              <a:t>3.Matplotlib and Seaborn are used to visualize score distributions, compare student groups, and examine relationships between test preparation and academic performance.</a:t>
            </a:r>
          </a:p>
          <a:p>
            <a:pPr lvl="0"/>
            <a:r>
              <a:rPr lang="en-IN" sz="2000" b="1" dirty="0">
                <a:solidFill>
                  <a:srgbClr val="002060"/>
                </a:solidFill>
              </a:rPr>
              <a:t>4.The findings highlight potential learning gaps and opportunities for targeted academic support.</a:t>
            </a:r>
          </a:p>
          <a:p>
            <a:pPr lvl="0"/>
            <a:r>
              <a:rPr lang="en-IN" sz="2000" b="1" dirty="0">
                <a:solidFill>
                  <a:srgbClr val="002060"/>
                </a:solidFill>
              </a:rPr>
              <a:t>5.The project emphasizes responsible data interpretation and demonstrates how data analytics can support evidence-based educational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048110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D737FC-E3CA-B969-0873-E5C835484A25}"/>
              </a:ext>
            </a:extLst>
          </p:cNvPr>
          <p:cNvSpPr/>
          <p:nvPr/>
        </p:nvSpPr>
        <p:spPr>
          <a:xfrm>
            <a:off x="347003" y="1816629"/>
            <a:ext cx="11034697" cy="434245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F4B2F-6AE6-F5F1-55B3-19AA799CBF27}"/>
              </a:ext>
            </a:extLst>
          </p:cNvPr>
          <p:cNvSpPr txBox="1"/>
          <p:nvPr/>
        </p:nvSpPr>
        <p:spPr>
          <a:xfrm>
            <a:off x="658368" y="576300"/>
            <a:ext cx="4459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>
                    <a:lumMod val="85000"/>
                  </a:schemeClr>
                </a:solidFill>
              </a:rPr>
              <a:t>DATASET OVERVIEW</a:t>
            </a:r>
            <a:endParaRPr lang="en-IN" sz="2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EB3E6-31F0-FD03-9B61-B32655D7B824}"/>
              </a:ext>
            </a:extLst>
          </p:cNvPr>
          <p:cNvSpPr txBox="1"/>
          <p:nvPr/>
        </p:nvSpPr>
        <p:spPr>
          <a:xfrm>
            <a:off x="658368" y="2551878"/>
            <a:ext cx="104119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1.Dataset                        — Students Performance dataset containing student demographic and academic information.</a:t>
            </a:r>
          </a:p>
          <a:p>
            <a:r>
              <a:rPr lang="en-US" b="1" dirty="0">
                <a:solidFill>
                  <a:srgbClr val="002060"/>
                </a:solidFill>
              </a:rPr>
              <a:t>2. Total Records             — 1,000 student records.</a:t>
            </a:r>
          </a:p>
          <a:p>
            <a:r>
              <a:rPr lang="en-US" b="1" dirty="0">
                <a:solidFill>
                  <a:srgbClr val="002060"/>
                </a:solidFill>
              </a:rPr>
              <a:t>3. Total Columns            — 8 columns.</a:t>
            </a:r>
          </a:p>
          <a:p>
            <a:r>
              <a:rPr lang="en-US" b="1" dirty="0">
                <a:solidFill>
                  <a:srgbClr val="002060"/>
                </a:solidFill>
              </a:rPr>
              <a:t>4. Target Variables         — Math Score, Reading Score, and Writing Score — represent students' academic    performance.</a:t>
            </a:r>
          </a:p>
          <a:p>
            <a:r>
              <a:rPr lang="en-US" b="1" dirty="0">
                <a:solidFill>
                  <a:srgbClr val="002060"/>
                </a:solidFill>
              </a:rPr>
              <a:t>5. Student Features        — Gender, race/ethnicity, and parental level of education.</a:t>
            </a:r>
          </a:p>
          <a:p>
            <a:r>
              <a:rPr lang="en-US" b="1" dirty="0">
                <a:solidFill>
                  <a:srgbClr val="002060"/>
                </a:solidFill>
              </a:rPr>
              <a:t>6.Educational Features   — Lunch type and test preparation course completion.</a:t>
            </a:r>
          </a:p>
          <a:p>
            <a:r>
              <a:rPr lang="en-US" b="1" dirty="0">
                <a:solidFill>
                  <a:srgbClr val="002060"/>
                </a:solidFill>
              </a:rPr>
              <a:t>7. Performance Features — Mathematics, reading, and writing scores.</a:t>
            </a:r>
          </a:p>
          <a:p>
            <a:r>
              <a:rPr lang="en-US" b="1" dirty="0">
                <a:solidFill>
                  <a:srgbClr val="002060"/>
                </a:solidFill>
              </a:rPr>
              <a:t>8 Data Type                     — Combination of categorical and numerical variables.</a:t>
            </a:r>
          </a:p>
          <a:p>
            <a:r>
              <a:rPr lang="en-US" b="1" dirty="0">
                <a:solidFill>
                  <a:srgbClr val="002060"/>
                </a:solidFill>
              </a:rPr>
              <a:t>9.Data Source                 — Kaggle.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527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8892"/>
            <a:ext cx="10881360" cy="938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2800" b="1" dirty="0">
                <a:solidFill>
                  <a:schemeClr val="bg1">
                    <a:lumMod val="85000"/>
                  </a:schemeClr>
                </a:solidFill>
              </a:rPr>
              <a:t>Project Scope</a:t>
            </a:r>
          </a:p>
          <a:p>
            <a:pPr algn="l">
              <a:spcAft>
                <a:spcPts val="0"/>
              </a:spcAft>
            </a:pPr>
            <a:endParaRPr sz="2700" b="1" i="0" dirty="0">
              <a:solidFill>
                <a:schemeClr val="bg1">
                  <a:lumMod val="85000"/>
                </a:schemeClr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A focused exploration of student demographics, learning conditions and subject scores</a:t>
            </a:r>
            <a:r>
              <a:rPr sz="1100" b="0" i="0" dirty="0">
                <a:solidFill>
                  <a:srgbClr val="5E6C7E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8C95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508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27048"/>
            <a:ext cx="64008" cy="1289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B67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11680"/>
            <a:ext cx="3090672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821465"/>
                </a:solidFill>
                <a:latin typeface="Aptos"/>
              </a:rPr>
              <a:t>Identify patterns and relationships across student characteristics and academic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474720" cy="1508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27048"/>
            <a:ext cx="64008" cy="12893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581912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B67"/>
                </a:solidFill>
                <a:latin typeface="Aptos"/>
              </a:rPr>
              <a:t>DATASET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11680"/>
            <a:ext cx="3090672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821465"/>
                </a:solidFill>
                <a:latin typeface="Aptos"/>
              </a:rPr>
              <a:t>986 valid student records after cleaning, from 1,000 original observations.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508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27048"/>
            <a:ext cx="64008" cy="1289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581912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B67"/>
                </a:solidFill>
                <a:latin typeface="Aptos"/>
              </a:rPr>
              <a:t>CORE SUBJECTS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11680"/>
            <a:ext cx="3090672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821465"/>
                </a:solidFill>
                <a:latin typeface="Aptos"/>
              </a:rPr>
              <a:t>Mathematics, reading and writing scores, alongside demographic and lunch categories.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365760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Key focus areas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" y="4175236"/>
            <a:ext cx="10607040" cy="17297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•  </a:t>
            </a:r>
            <a:r>
              <a:rPr sz="2000" b="1" dirty="0">
                <a:solidFill>
                  <a:schemeClr val="bg1">
                    <a:lumMod val="85000"/>
                  </a:schemeClr>
                </a:solidFill>
              </a:rPr>
              <a:t>Gender distribution in the cleaned dataset</a:t>
            </a:r>
          </a:p>
          <a:p>
            <a:pPr>
              <a:spcAft>
                <a:spcPts val="12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rPr sz="2000" b="1" dirty="0">
                <a:solidFill>
                  <a:schemeClr val="bg1">
                    <a:lumMod val="85000"/>
                  </a:schemeClr>
                </a:solidFill>
              </a:rPr>
              <a:t>•  Relationships between mathematics, reading and writing scores</a:t>
            </a:r>
          </a:p>
          <a:p>
            <a:pPr>
              <a:spcAft>
                <a:spcPts val="12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rPr sz="2000" b="1" dirty="0">
                <a:solidFill>
                  <a:schemeClr val="bg1">
                    <a:lumMod val="85000"/>
                  </a:schemeClr>
                </a:solidFill>
              </a:rPr>
              <a:t>•  Score patterns across lunch categories</a:t>
            </a:r>
          </a:p>
          <a:p>
            <a:pPr>
              <a:spcAft>
                <a:spcPts val="1200"/>
              </a:spcAft>
              <a:defRPr sz="1600">
                <a:solidFill>
                  <a:srgbClr val="27313E"/>
                </a:solidFill>
                <a:latin typeface="Aptos"/>
              </a:defRPr>
            </a:pPr>
            <a:r>
              <a:rPr sz="2000" b="1" dirty="0">
                <a:solidFill>
                  <a:schemeClr val="bg1">
                    <a:lumMod val="85000"/>
                  </a:schemeClr>
                </a:solidFill>
              </a:rPr>
              <a:t>•  Demographic groups and average total-score differences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Gender Distribution of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The cleaned dataset contains a near-balanced split between female and male students</a:t>
            </a:r>
            <a:r>
              <a:rPr sz="1100" b="0" i="0" dirty="0">
                <a:solidFill>
                  <a:srgbClr val="5E6C7E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8C95"/>
                </a:solidFill>
                <a:latin typeface="Aptos"/>
              </a:rPr>
              <a:t>03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508760"/>
          <a:ext cx="53035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1600200"/>
            <a:ext cx="2148840" cy="13258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709928"/>
            <a:ext cx="64008" cy="110642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8" y="1764792"/>
            <a:ext cx="17830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82302E"/>
                </a:solidFill>
                <a:latin typeface="Aptos"/>
              </a:rPr>
              <a:t>FEMALE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194560"/>
            <a:ext cx="1764792" cy="6771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 dirty="0">
                <a:solidFill>
                  <a:srgbClr val="002060"/>
                </a:solidFill>
                <a:latin typeface="Aptos"/>
              </a:rPr>
              <a:t>513 students
52.0%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00200"/>
            <a:ext cx="2148840" cy="13258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23960" y="1709928"/>
            <a:ext cx="64008" cy="110642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25128" y="1764792"/>
            <a:ext cx="17830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82302E"/>
                </a:solidFill>
                <a:latin typeface="Aptos"/>
              </a:rPr>
              <a:t>MALE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2194560"/>
            <a:ext cx="1764792" cy="6771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 dirty="0">
                <a:solidFill>
                  <a:srgbClr val="002060"/>
                </a:solidFill>
                <a:latin typeface="Aptos"/>
              </a:rPr>
              <a:t>473 students
48.0%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29000"/>
            <a:ext cx="27432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EDE793"/>
                </a:solidFill>
                <a:latin typeface="Aptos"/>
              </a:rP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840480"/>
            <a:ext cx="457200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Female students make up a slightly larger share of the cleaned dataset, by about 4 percentage 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Subject 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Correlation describes how scores vary together; it does not prove causation</a:t>
            </a:r>
            <a:r>
              <a:rPr sz="1100" b="0" i="0" dirty="0">
                <a:solidFill>
                  <a:srgbClr val="5E6C7E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8C95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417320"/>
            <a:ext cx="11430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5264" y="1417320"/>
            <a:ext cx="11430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417320"/>
            <a:ext cx="11430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8686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Math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828800"/>
            <a:ext cx="1088136" cy="1088136"/>
          </a:xfrm>
          <a:prstGeom prst="rect">
            <a:avLst/>
          </a:prstGeom>
          <a:solidFill>
            <a:srgbClr val="008C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7400" y="2139696"/>
            <a:ext cx="10881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1.00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1088136" cy="1088136"/>
          </a:xfrm>
          <a:prstGeom prst="rect">
            <a:avLst/>
          </a:prstGeom>
          <a:solidFill>
            <a:srgbClr val="6DBEC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2139696"/>
            <a:ext cx="10881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73B67"/>
                </a:solidFill>
                <a:latin typeface="Aptos"/>
              </a:rPr>
              <a:t>0.80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1088136" cy="1088136"/>
          </a:xfrm>
          <a:prstGeom prst="rect">
            <a:avLst/>
          </a:prstGeom>
          <a:solidFill>
            <a:srgbClr val="6DBEC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2139696"/>
            <a:ext cx="10881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73B67"/>
                </a:solidFill>
                <a:latin typeface="Aptos"/>
              </a:rPr>
              <a:t>0.81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" y="3319272"/>
            <a:ext cx="959417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Reading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2971800"/>
            <a:ext cx="1088136" cy="1088136"/>
          </a:xfrm>
          <a:prstGeom prst="rect">
            <a:avLst/>
          </a:prstGeom>
          <a:solidFill>
            <a:srgbClr val="6DBEC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57400" y="3282696"/>
            <a:ext cx="10881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73B67"/>
                </a:solidFill>
                <a:latin typeface="Aptos"/>
              </a:rPr>
              <a:t>0.80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971800"/>
            <a:ext cx="1088136" cy="1088136"/>
          </a:xfrm>
          <a:prstGeom prst="rect">
            <a:avLst/>
          </a:prstGeom>
          <a:solidFill>
            <a:srgbClr val="008C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282696"/>
            <a:ext cx="10881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1.00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971800"/>
            <a:ext cx="1088136" cy="1088136"/>
          </a:xfrm>
          <a:prstGeom prst="rect">
            <a:avLst/>
          </a:prstGeom>
          <a:solidFill>
            <a:srgbClr val="008C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3282696"/>
            <a:ext cx="10881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0.95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62272"/>
            <a:ext cx="8686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Writing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4114800"/>
            <a:ext cx="1088136" cy="1088136"/>
          </a:xfrm>
          <a:prstGeom prst="rect">
            <a:avLst/>
          </a:prstGeom>
          <a:solidFill>
            <a:srgbClr val="6DBEC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57400" y="4425696"/>
            <a:ext cx="10881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73B67"/>
                </a:solidFill>
                <a:latin typeface="Aptos"/>
              </a:rPr>
              <a:t>0.81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114800"/>
            <a:ext cx="1088136" cy="1088136"/>
          </a:xfrm>
          <a:prstGeom prst="rect">
            <a:avLst/>
          </a:prstGeom>
          <a:solidFill>
            <a:srgbClr val="008C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4425696"/>
            <a:ext cx="10881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0.95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14800"/>
            <a:ext cx="1088136" cy="1088136"/>
          </a:xfrm>
          <a:prstGeom prst="rect">
            <a:avLst/>
          </a:prstGeom>
          <a:solidFill>
            <a:srgbClr val="008C9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4425696"/>
            <a:ext cx="10881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1.00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1600200"/>
            <a:ext cx="4983480" cy="1143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26480" y="1709928"/>
            <a:ext cx="64008" cy="92354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7648" y="1764792"/>
            <a:ext cx="4617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821465"/>
                </a:solidFill>
                <a:latin typeface="Aptos"/>
              </a:rPr>
              <a:t>STRONGEST RELATIONSHIP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2194560"/>
            <a:ext cx="4599432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>
                <a:solidFill>
                  <a:srgbClr val="002060"/>
                </a:solidFill>
                <a:latin typeface="Aptos"/>
              </a:rPr>
              <a:t>Reading and writing scores: r = 0.95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2926080"/>
            <a:ext cx="4983480" cy="1143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26480" y="3035808"/>
            <a:ext cx="64008" cy="92354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7648" y="3090672"/>
            <a:ext cx="4617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821465"/>
                </a:solidFill>
                <a:latin typeface="Aptos"/>
              </a:rPr>
              <a:t>MATH &amp; LITERACY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4071" y="3465576"/>
            <a:ext cx="4599432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002060"/>
                </a:solidFill>
                <a:latin typeface="Aptos"/>
              </a:rPr>
              <a:t>Math has positive correlations with reading (0.80) and writing (0.81).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526280"/>
            <a:ext cx="2828546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Interpretation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202208"/>
            <a:ext cx="480060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Students who score higher in one subject tend to score higher in related subjects, especially reading and writing</a:t>
            </a:r>
            <a:r>
              <a:rPr sz="2000" b="0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Academic Performance by Lunch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A comparison of score distributions across standard and free/reduced lunch groups</a:t>
            </a:r>
            <a:r>
              <a:rPr sz="1100" b="0" i="0" dirty="0">
                <a:solidFill>
                  <a:srgbClr val="5E6C7E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8C95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83480" cy="21031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18488"/>
            <a:ext cx="64008" cy="1883663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673351"/>
            <a:ext cx="4617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821465"/>
                </a:solidFill>
                <a:latin typeface="Aptos"/>
              </a:rPr>
              <a:t>STANDARD LUNCH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03120"/>
            <a:ext cx="4599432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002060"/>
                </a:solidFill>
                <a:latin typeface="Aptos"/>
              </a:rPr>
              <a:t>In this dataset, students in the standard-lunch group generally show higher average scores across math, reading and writing.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4983480" cy="21031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618488"/>
            <a:ext cx="64008" cy="1883663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673351"/>
            <a:ext cx="4617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821465"/>
                </a:solidFill>
                <a:latin typeface="Aptos"/>
              </a:rPr>
              <a:t>FREE / REDUCED LUNCH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103120"/>
            <a:ext cx="4599432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002060"/>
                </a:solidFill>
                <a:latin typeface="Aptos"/>
              </a:rPr>
              <a:t>The group generally shows lower average scores. A boxplot can reveal differences in medians, spread and outliers.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34747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How to read the boxplot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681728"/>
            <a:ext cx="9966960" cy="93461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313E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•  Median line: the middle score in each group</a:t>
            </a:r>
          </a:p>
          <a:p>
            <a:pPr>
              <a:spcAft>
                <a:spcPts val="800"/>
              </a:spcAft>
              <a:defRPr sz="1500">
                <a:solidFill>
                  <a:srgbClr val="27313E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•  Box: the middle 50% of scores</a:t>
            </a:r>
          </a:p>
          <a:p>
            <a:pPr>
              <a:spcAft>
                <a:spcPts val="800"/>
              </a:spcAft>
              <a:defRPr sz="1500">
                <a:solidFill>
                  <a:srgbClr val="27313E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•  Whiskers and points: spread and potential outliers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053328"/>
            <a:ext cx="10579608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1" dirty="0">
                <a:solidFill>
                  <a:schemeClr val="bg1">
                    <a:lumMod val="85000"/>
                  </a:schemeClr>
                </a:solidFill>
                <a:latin typeface="Aptos"/>
              </a:rPr>
              <a:t>Note: These are associations in the dataset, not evidence that lunch type causes score differences.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C881F9-D0E2-F371-8AF7-17D0B47592C0}"/>
              </a:ext>
            </a:extLst>
          </p:cNvPr>
          <p:cNvSpPr txBox="1"/>
          <p:nvPr/>
        </p:nvSpPr>
        <p:spPr>
          <a:xfrm>
            <a:off x="430471" y="966139"/>
            <a:ext cx="3816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>
                    <a:lumMod val="95000"/>
                  </a:schemeClr>
                </a:solidFill>
              </a:rPr>
              <a:t>Strategic Action 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43030-EE3D-1B24-4F06-BB88BB0A7D00}"/>
              </a:ext>
            </a:extLst>
          </p:cNvPr>
          <p:cNvSpPr txBox="1"/>
          <p:nvPr/>
        </p:nvSpPr>
        <p:spPr>
          <a:xfrm>
            <a:off x="621792" y="5998346"/>
            <a:ext cx="10449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bg1">
                    <a:lumMod val="85000"/>
                  </a:schemeClr>
                </a:solidFill>
              </a:rPr>
              <a:t>Key Takeaway: </a:t>
            </a:r>
            <a:r>
              <a:rPr lang="en-IN" sz="2000" b="1" dirty="0">
                <a:solidFill>
                  <a:schemeClr val="bg1">
                    <a:lumMod val="85000"/>
                  </a:schemeClr>
                </a:solidFill>
              </a:rPr>
              <a:t>Targeted academic support and data-driven teaching can enhance student learning outcomes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F20AAF-C46B-55A3-7448-A1DCC0E32E83}"/>
              </a:ext>
            </a:extLst>
          </p:cNvPr>
          <p:cNvSpPr/>
          <p:nvPr/>
        </p:nvSpPr>
        <p:spPr>
          <a:xfrm>
            <a:off x="199289" y="2034838"/>
            <a:ext cx="3298875" cy="147134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821465"/>
                </a:solidFill>
              </a:rPr>
              <a:t>Enhance Test Preparation: </a:t>
            </a:r>
            <a:r>
              <a:rPr lang="en-IN" sz="2000" b="1" dirty="0">
                <a:solidFill>
                  <a:srgbClr val="82302E"/>
                </a:solidFill>
              </a:rPr>
              <a:t>Provide practice tests and academic guidance.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BCFD35-3C69-B554-082D-78BC912FC267}"/>
              </a:ext>
            </a:extLst>
          </p:cNvPr>
          <p:cNvSpPr/>
          <p:nvPr/>
        </p:nvSpPr>
        <p:spPr>
          <a:xfrm>
            <a:off x="4114798" y="2082650"/>
            <a:ext cx="3298875" cy="147134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821465"/>
                </a:solidFill>
              </a:rPr>
              <a:t>Strengthen Student Support: </a:t>
            </a:r>
            <a:r>
              <a:rPr lang="en-IN" sz="2000" b="1" dirty="0">
                <a:solidFill>
                  <a:srgbClr val="82302E"/>
                </a:solidFill>
              </a:rPr>
              <a:t>Improve access to meals and learning resources.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D92ED9-6E1F-6044-6BA7-06530CDE6BF4}"/>
              </a:ext>
            </a:extLst>
          </p:cNvPr>
          <p:cNvSpPr/>
          <p:nvPr/>
        </p:nvSpPr>
        <p:spPr>
          <a:xfrm>
            <a:off x="8030307" y="2096480"/>
            <a:ext cx="3638843" cy="147134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821465"/>
                </a:solidFill>
              </a:rPr>
              <a:t>Implement Targeted Learning:</a:t>
            </a:r>
          </a:p>
          <a:p>
            <a:pPr algn="ctr"/>
            <a:r>
              <a:rPr lang="en-IN" sz="2000" b="1" dirty="0">
                <a:solidFill>
                  <a:srgbClr val="821465"/>
                </a:solidFill>
              </a:rPr>
              <a:t> </a:t>
            </a:r>
            <a:r>
              <a:rPr lang="en-IN" sz="2000" b="1" dirty="0">
                <a:solidFill>
                  <a:srgbClr val="82302E"/>
                </a:solidFill>
              </a:rPr>
              <a:t>Offer tutoring and subject-specific support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CBC7A7-42EB-1DC2-4E1A-079B74351A0E}"/>
              </a:ext>
            </a:extLst>
          </p:cNvPr>
          <p:cNvSpPr/>
          <p:nvPr/>
        </p:nvSpPr>
        <p:spPr>
          <a:xfrm>
            <a:off x="1055077" y="4126639"/>
            <a:ext cx="3938953" cy="146174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821465"/>
                </a:solidFill>
              </a:rPr>
              <a:t>Adopt Data-Driven Teaching: </a:t>
            </a:r>
          </a:p>
          <a:p>
            <a:pPr algn="ctr"/>
            <a:r>
              <a:rPr lang="en-IN" sz="2000" b="1" dirty="0">
                <a:solidFill>
                  <a:srgbClr val="82302E"/>
                </a:solidFill>
              </a:rPr>
              <a:t>Use performance insights to improve teaching strategies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1E8719-AB0A-DD2D-D842-B6E365405846}"/>
              </a:ext>
            </a:extLst>
          </p:cNvPr>
          <p:cNvSpPr/>
          <p:nvPr/>
        </p:nvSpPr>
        <p:spPr>
          <a:xfrm>
            <a:off x="6243711" y="4156282"/>
            <a:ext cx="4321126" cy="147134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821465"/>
                </a:solidFill>
              </a:rPr>
              <a:t>Monitor Progress: </a:t>
            </a:r>
          </a:p>
          <a:p>
            <a:pPr algn="ctr"/>
            <a:r>
              <a:rPr lang="en-IN" sz="2000" b="1" dirty="0">
                <a:solidFill>
                  <a:srgbClr val="82302E"/>
                </a:solidFill>
              </a:rPr>
              <a:t>Track academic performance and evaluate learning outcomes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5C672-FE85-5B0D-4259-4F3016BDD5F9}"/>
              </a:ext>
            </a:extLst>
          </p:cNvPr>
          <p:cNvSpPr txBox="1"/>
          <p:nvPr/>
        </p:nvSpPr>
        <p:spPr>
          <a:xfrm>
            <a:off x="365760" y="140677"/>
            <a:ext cx="39455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>
                    <a:lumMod val="85000"/>
                  </a:schemeClr>
                </a:solidFill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55131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E64291-F421-EE9C-C1DA-09BDAA5B0030}"/>
              </a:ext>
            </a:extLst>
          </p:cNvPr>
          <p:cNvSpPr txBox="1"/>
          <p:nvPr/>
        </p:nvSpPr>
        <p:spPr>
          <a:xfrm>
            <a:off x="618978" y="407963"/>
            <a:ext cx="3446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>
                    <a:lumMod val="85000"/>
                  </a:schemeClr>
                </a:solidFill>
              </a:rPr>
              <a:t>Key Insight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5B347C-210C-1A5E-5E4D-4FDCA1CCF7E2}"/>
              </a:ext>
            </a:extLst>
          </p:cNvPr>
          <p:cNvSpPr/>
          <p:nvPr/>
        </p:nvSpPr>
        <p:spPr>
          <a:xfrm>
            <a:off x="196948" y="1575583"/>
            <a:ext cx="11507372" cy="327777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b="1" dirty="0">
                <a:solidFill>
                  <a:srgbClr val="002060"/>
                </a:solidFill>
              </a:rPr>
              <a:t>1. Gender &amp; Demographics: The dataset enables comparison of student representation and academic performance across groups.</a:t>
            </a:r>
          </a:p>
          <a:p>
            <a:pPr lvl="0"/>
            <a:r>
              <a:rPr lang="en-IN" b="1" dirty="0">
                <a:solidFill>
                  <a:srgbClr val="002060"/>
                </a:solidFill>
              </a:rPr>
              <a:t>2. Parental Education: Academic scores vary across parental education levels.</a:t>
            </a:r>
          </a:p>
          <a:p>
            <a:pPr lvl="0"/>
            <a:r>
              <a:rPr lang="en-IN" b="1" dirty="0">
                <a:solidFill>
                  <a:srgbClr val="002060"/>
                </a:solidFill>
              </a:rPr>
              <a:t>3. Lunch Category: Students receiving standard lunch generally achieve higher average scores.</a:t>
            </a:r>
          </a:p>
          <a:p>
            <a:pPr lvl="0"/>
            <a:r>
              <a:rPr lang="en-IN" b="1" dirty="0">
                <a:solidFill>
                  <a:srgbClr val="002060"/>
                </a:solidFill>
              </a:rPr>
              <a:t>4. Test Preparation: Students who completed test preparation generally perform better across subjects.</a:t>
            </a:r>
          </a:p>
          <a:p>
            <a:pPr lvl="0"/>
            <a:r>
              <a:rPr lang="en-IN" b="1" dirty="0">
                <a:solidFill>
                  <a:srgbClr val="002060"/>
                </a:solidFill>
              </a:rPr>
              <a:t>5. Subject Correlation: Reading and writing scores show a strong positive correlation.</a:t>
            </a:r>
          </a:p>
          <a:p>
            <a:pPr lvl="0"/>
            <a:r>
              <a:rPr lang="en-IN" b="1" dirty="0">
                <a:solidFill>
                  <a:srgbClr val="002060"/>
                </a:solidFill>
              </a:rPr>
              <a:t>6. Overall Performance: Total and average scores help identify students who may benefit from additional support.</a:t>
            </a:r>
          </a:p>
          <a:p>
            <a:pPr lvl="0"/>
            <a:r>
              <a:rPr lang="en-IN" b="1" dirty="0">
                <a:solidFill>
                  <a:srgbClr val="002060"/>
                </a:solidFill>
              </a:rPr>
              <a:t>7.Data-Driven Insights: Visualizations and statistical analysis reveal performance patterns and areas for improvement.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4E9A0-C5C3-0CFD-D26C-D78BCE2C7033}"/>
              </a:ext>
            </a:extLst>
          </p:cNvPr>
          <p:cNvSpPr txBox="1"/>
          <p:nvPr/>
        </p:nvSpPr>
        <p:spPr>
          <a:xfrm>
            <a:off x="506436" y="5824025"/>
            <a:ext cx="113948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EDE793"/>
                </a:solidFill>
              </a:rPr>
              <a:t>Takeaway: </a:t>
            </a:r>
            <a:r>
              <a:rPr lang="en-IN" sz="2000" b="1" dirty="0">
                <a:solidFill>
                  <a:schemeClr val="bg1">
                    <a:lumMod val="85000"/>
                  </a:schemeClr>
                </a:solidFill>
              </a:rPr>
              <a:t>Data-driven analysis helps identify academic trends and opportunities for targeted student support, while further research is needed to understand the factors influencing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786769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Use the findings to guide further investigation—not to make assumptions about individual students</a:t>
            </a:r>
            <a:r>
              <a:rPr sz="1100" b="0" i="0" dirty="0">
                <a:solidFill>
                  <a:srgbClr val="5E6C7E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8C95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" y="1508759"/>
            <a:ext cx="5196841" cy="21659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18488"/>
            <a:ext cx="45720" cy="191250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73351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821465"/>
                </a:solidFill>
                <a:latin typeface="Aptos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478231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27313E"/>
                </a:solidFill>
                <a:latin typeface="Aptos"/>
              </a:rPr>
              <a:t>• Reading and writing scores have a strong positive relationship.
• Math scores are also positively associated with literacy scores.
• Lunch and demographic categories provide useful context for performance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216594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18487"/>
            <a:ext cx="45719" cy="1912503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673351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821465"/>
                </a:solidFill>
                <a:latin typeface="Aptos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103120"/>
            <a:ext cx="478231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7313E"/>
                </a:solidFill>
                <a:latin typeface="Aptos"/>
              </a:rPr>
              <a:t>• Compare average scores across race/ethnicity and parental education groups.
• Review test-preparation patterns across subjects.
• Validate findings with additional data and appropriate statistical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70866"/>
            <a:ext cx="384048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Practical </a:t>
            </a:r>
            <a:r>
              <a:rPr lang="en-US" sz="2000"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R</a:t>
            </a:r>
            <a:r>
              <a:rPr sz="2000" b="1" i="0" dirty="0">
                <a:solidFill>
                  <a:schemeClr val="bg1">
                    <a:lumMod val="85000"/>
                  </a:schemeClr>
                </a:solidFill>
                <a:latin typeface="Aptos"/>
              </a:rPr>
              <a:t>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4836355"/>
            <a:ext cx="10241280" cy="12167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7313E"/>
                </a:solidFill>
                <a:latin typeface="Aptos"/>
              </a:defRPr>
            </a:pPr>
            <a:r>
              <a:rPr sz="2000" b="1" dirty="0">
                <a:solidFill>
                  <a:schemeClr val="bg1">
                    <a:lumMod val="85000"/>
                  </a:schemeClr>
                </a:solidFill>
              </a:rPr>
              <a:t>•  Explore targeted academic support where score gaps appear</a:t>
            </a:r>
          </a:p>
          <a:p>
            <a:pPr>
              <a:spcAft>
                <a:spcPts val="1000"/>
              </a:spcAft>
              <a:defRPr sz="1500">
                <a:solidFill>
                  <a:srgbClr val="27313E"/>
                </a:solidFill>
                <a:latin typeface="Aptos"/>
              </a:defRPr>
            </a:pPr>
            <a:r>
              <a:rPr sz="2000" b="1" dirty="0">
                <a:solidFill>
                  <a:schemeClr val="bg1">
                    <a:lumMod val="85000"/>
                  </a:schemeClr>
                </a:solidFill>
              </a:rPr>
              <a:t>•  Review access to learning resources and test preparation</a:t>
            </a:r>
          </a:p>
          <a:p>
            <a:pPr>
              <a:spcAft>
                <a:spcPts val="1000"/>
              </a:spcAft>
              <a:defRPr sz="1500">
                <a:solidFill>
                  <a:srgbClr val="27313E"/>
                </a:solidFill>
                <a:latin typeface="Aptos"/>
              </a:defRPr>
            </a:pPr>
            <a:r>
              <a:rPr sz="2000" b="1" dirty="0">
                <a:solidFill>
                  <a:schemeClr val="bg1">
                    <a:lumMod val="85000"/>
                  </a:schemeClr>
                </a:solidFill>
              </a:rPr>
              <a:t>•  Present results with clear charts and careful, non-causal language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565557-BEB6-0374-3825-DDBAFA6FE160}"/>
              </a:ext>
            </a:extLst>
          </p:cNvPr>
          <p:cNvSpPr txBox="1"/>
          <p:nvPr/>
        </p:nvSpPr>
        <p:spPr>
          <a:xfrm>
            <a:off x="2936630" y="2644170"/>
            <a:ext cx="60983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9600" b="1" i="0" dirty="0">
                <a:solidFill>
                  <a:schemeClr val="bg1">
                    <a:lumMod val="65000"/>
                  </a:schemeClr>
                </a:solidFill>
                <a:latin typeface="Aptos"/>
              </a:rPr>
              <a:t>Thank you</a:t>
            </a:r>
          </a:p>
        </p:txBody>
      </p:sp>
      <p:pic>
        <p:nvPicPr>
          <p:cNvPr id="4" name="Graphic 3" descr="Graduation cap with solid fill">
            <a:extLst>
              <a:ext uri="{FF2B5EF4-FFF2-40B4-BE49-F238E27FC236}">
                <a16:creationId xmlns:a16="http://schemas.microsoft.com/office/drawing/2014/main" id="{AB88EFE2-8641-F654-9C66-26041DFF36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99803" y="436099"/>
            <a:ext cx="4192172" cy="333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30320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161</TotalTime>
  <Words>954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Oswald SemiBold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Windows</dc:creator>
  <cp:keywords/>
  <dc:description>generated using python-pptx</dc:description>
  <cp:lastModifiedBy>Windows</cp:lastModifiedBy>
  <cp:revision>6</cp:revision>
  <dcterms:created xsi:type="dcterms:W3CDTF">2013-01-27T09:14:16Z</dcterms:created>
  <dcterms:modified xsi:type="dcterms:W3CDTF">2026-10-26T08:43:01Z</dcterms:modified>
  <cp:category/>
</cp:coreProperties>
</file>